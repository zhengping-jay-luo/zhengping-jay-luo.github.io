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3"/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5a16ccd2d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5a16ccd2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d5a16ccd2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5f48ce5f7_1_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5f48ce5f7_1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d5f48ce5f7_1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5f48ce5f7_1_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5f48ce5f7_1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d5f48ce5f7_1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5f48ce5f7_1_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5f48ce5f7_1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d5f48ce5f7_1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 txBox="1"/>
          <p:nvPr>
            <p:ph idx="1" type="body"/>
          </p:nvPr>
        </p:nvSpPr>
        <p:spPr>
          <a:xfrm>
            <a:off x="908703" y="2448527"/>
            <a:ext cx="6614983" cy="1505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1730"/>
              </a:buClr>
              <a:buSzPts val="6000"/>
              <a:buFont typeface="Arial"/>
              <a:buNone/>
              <a:defRPr b="1" i="0" sz="6000" u="none" cap="none" strike="noStrike">
                <a:solidFill>
                  <a:srgbClr val="8D1730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2" type="body"/>
          </p:nvPr>
        </p:nvSpPr>
        <p:spPr>
          <a:xfrm>
            <a:off x="908703" y="4220002"/>
            <a:ext cx="6614983" cy="689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Description">
  <p:cSld name="Title -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>
            <p:ph idx="1" type="body"/>
          </p:nvPr>
        </p:nvSpPr>
        <p:spPr>
          <a:xfrm>
            <a:off x="1867724" y="2364586"/>
            <a:ext cx="6359525" cy="3068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2" type="body"/>
          </p:nvPr>
        </p:nvSpPr>
        <p:spPr>
          <a:xfrm>
            <a:off x="950976" y="1638444"/>
            <a:ext cx="8193023" cy="513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1730"/>
              </a:buClr>
              <a:buSzPts val="4500"/>
              <a:buFont typeface="Arial"/>
              <a:buNone/>
              <a:defRPr b="1" i="0" sz="4500" u="none" cap="none" strike="noStrike">
                <a:solidFill>
                  <a:srgbClr val="8D1730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Bullets">
  <p:cSld name="Title - Bulle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body"/>
          </p:nvPr>
        </p:nvSpPr>
        <p:spPr>
          <a:xfrm>
            <a:off x="952902" y="1638444"/>
            <a:ext cx="8191098" cy="513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1730"/>
              </a:buClr>
              <a:buSzPts val="4500"/>
              <a:buFont typeface="Arial"/>
              <a:buNone/>
              <a:defRPr b="1" i="0" sz="4500" u="none" cap="none" strike="noStrike">
                <a:solidFill>
                  <a:srgbClr val="8D1730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1868688" y="2364586"/>
            <a:ext cx="6359525" cy="3068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D173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Description - Photo">
  <p:cSld name="Title - Description - Photo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906410" y="1638444"/>
            <a:ext cx="4237589" cy="513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1730"/>
              </a:buClr>
              <a:buSzPts val="4500"/>
              <a:buFont typeface="Arial"/>
              <a:buNone/>
              <a:defRPr b="1" i="0" sz="4500" u="none" cap="none" strike="noStrike">
                <a:solidFill>
                  <a:srgbClr val="8D1730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959178" y="2364586"/>
            <a:ext cx="3646471" cy="3068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/>
          <p:nvPr>
            <p:ph idx="3" type="pic"/>
          </p:nvPr>
        </p:nvSpPr>
        <p:spPr>
          <a:xfrm>
            <a:off x="550863" y="1248717"/>
            <a:ext cx="4021137" cy="4184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Bullets - Photo">
  <p:cSld name="Title - Bullets - Photo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906410" y="1638444"/>
            <a:ext cx="4237589" cy="513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1730"/>
              </a:buClr>
              <a:buSzPts val="4500"/>
              <a:buFont typeface="Arial"/>
              <a:buNone/>
              <a:defRPr b="1" i="0" sz="4500" u="none" cap="none" strike="noStrike">
                <a:solidFill>
                  <a:srgbClr val="8D1730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8D173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959178" y="2364586"/>
            <a:ext cx="3646471" cy="3068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D173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173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/>
          <p:nvPr>
            <p:ph idx="3" type="pic"/>
          </p:nvPr>
        </p:nvSpPr>
        <p:spPr>
          <a:xfrm>
            <a:off x="550863" y="1248717"/>
            <a:ext cx="4021137" cy="4184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 amt="48000"/>
          </a:blip>
          <a:srcRect b="0" l="11097" r="8423" t="3318"/>
          <a:stretch/>
        </p:blipFill>
        <p:spPr>
          <a:xfrm>
            <a:off x="-1" y="-12057"/>
            <a:ext cx="7998941" cy="6401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/>
          <p:nvPr/>
        </p:nvSpPr>
        <p:spPr>
          <a:xfrm>
            <a:off x="691464" y="5842534"/>
            <a:ext cx="90170" cy="93345"/>
          </a:xfrm>
          <a:custGeom>
            <a:rect b="b" l="l" r="r" t="t"/>
            <a:pathLst>
              <a:path extrusionOk="0" h="93345" w="90169">
                <a:moveTo>
                  <a:pt x="90093" y="93002"/>
                </a:moveTo>
                <a:lnTo>
                  <a:pt x="0" y="93002"/>
                </a:lnTo>
                <a:lnTo>
                  <a:pt x="0" y="0"/>
                </a:lnTo>
                <a:lnTo>
                  <a:pt x="90093" y="0"/>
                </a:lnTo>
                <a:lnTo>
                  <a:pt x="90093" y="93002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61876" y="5891612"/>
            <a:ext cx="629587" cy="45719"/>
          </a:xfrm>
          <a:custGeom>
            <a:rect b="b" l="l" r="r" t="t"/>
            <a:pathLst>
              <a:path extrusionOk="0" h="120000" w="1861820">
                <a:moveTo>
                  <a:pt x="0" y="0"/>
                </a:moveTo>
                <a:lnTo>
                  <a:pt x="1861820" y="0"/>
                </a:lnTo>
              </a:path>
            </a:pathLst>
          </a:custGeom>
          <a:noFill/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9040" y="5682511"/>
            <a:ext cx="1643847" cy="438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5511800"/>
            <a:ext cx="762000" cy="13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40386" y="5735034"/>
            <a:ext cx="330200" cy="3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/>
          <p:nvPr/>
        </p:nvSpPr>
        <p:spPr>
          <a:xfrm flipH="1" rot="-5400000">
            <a:off x="4986242" y="3391706"/>
            <a:ext cx="6857996" cy="74593"/>
          </a:xfrm>
          <a:custGeom>
            <a:rect b="b" l="l" r="r" t="t"/>
            <a:pathLst>
              <a:path extrusionOk="0" h="120000" w="1861820">
                <a:moveTo>
                  <a:pt x="0" y="0"/>
                </a:moveTo>
                <a:lnTo>
                  <a:pt x="1861820" y="0"/>
                </a:lnTo>
              </a:path>
            </a:pathLst>
          </a:custGeom>
          <a:noFill/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3073400" cy="12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8690152" y="1356670"/>
            <a:ext cx="90170" cy="93345"/>
          </a:xfrm>
          <a:custGeom>
            <a:rect b="b" l="l" r="r" t="t"/>
            <a:pathLst>
              <a:path extrusionOk="0" h="93345" w="90169">
                <a:moveTo>
                  <a:pt x="90093" y="93002"/>
                </a:moveTo>
                <a:lnTo>
                  <a:pt x="0" y="93002"/>
                </a:lnTo>
                <a:lnTo>
                  <a:pt x="0" y="0"/>
                </a:lnTo>
                <a:lnTo>
                  <a:pt x="90093" y="0"/>
                </a:lnTo>
                <a:lnTo>
                  <a:pt x="90093" y="93002"/>
                </a:lnTo>
                <a:close/>
              </a:path>
            </a:pathLst>
          </a:custGeom>
          <a:solidFill>
            <a:srgbClr val="DA2B3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690152" y="1064277"/>
            <a:ext cx="90170" cy="93345"/>
          </a:xfrm>
          <a:custGeom>
            <a:rect b="b" l="l" r="r" t="t"/>
            <a:pathLst>
              <a:path extrusionOk="0" h="93345" w="90169">
                <a:moveTo>
                  <a:pt x="90093" y="93002"/>
                </a:moveTo>
                <a:lnTo>
                  <a:pt x="0" y="93002"/>
                </a:lnTo>
                <a:lnTo>
                  <a:pt x="0" y="0"/>
                </a:lnTo>
                <a:lnTo>
                  <a:pt x="90093" y="0"/>
                </a:lnTo>
                <a:lnTo>
                  <a:pt x="90093" y="93002"/>
                </a:lnTo>
                <a:close/>
              </a:path>
            </a:pathLst>
          </a:custGeom>
          <a:solidFill>
            <a:srgbClr val="4A2F7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690152" y="771884"/>
            <a:ext cx="90170" cy="93345"/>
          </a:xfrm>
          <a:custGeom>
            <a:rect b="b" l="l" r="r" t="t"/>
            <a:pathLst>
              <a:path extrusionOk="0" h="93345" w="90169">
                <a:moveTo>
                  <a:pt x="90093" y="93002"/>
                </a:moveTo>
                <a:lnTo>
                  <a:pt x="0" y="93002"/>
                </a:lnTo>
                <a:lnTo>
                  <a:pt x="0" y="0"/>
                </a:lnTo>
                <a:lnTo>
                  <a:pt x="90093" y="0"/>
                </a:lnTo>
                <a:lnTo>
                  <a:pt x="90093" y="93002"/>
                </a:lnTo>
                <a:close/>
              </a:path>
            </a:pathLst>
          </a:custGeom>
          <a:solidFill>
            <a:srgbClr val="D0BB2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-5400000">
            <a:off x="354311" y="6249683"/>
            <a:ext cx="254006" cy="96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/>
          <p:nvPr/>
        </p:nvSpPr>
        <p:spPr>
          <a:xfrm flipH="1" rot="-5400000">
            <a:off x="-2429076" y="3391707"/>
            <a:ext cx="6857996" cy="74593"/>
          </a:xfrm>
          <a:custGeom>
            <a:rect b="b" l="l" r="r" t="t"/>
            <a:pathLst>
              <a:path extrusionOk="0" h="120000" w="1861820">
                <a:moveTo>
                  <a:pt x="0" y="0"/>
                </a:moveTo>
                <a:lnTo>
                  <a:pt x="1861820" y="0"/>
                </a:lnTo>
              </a:path>
            </a:pathLst>
          </a:custGeom>
          <a:noFill/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 rot="5400000">
            <a:off x="284691" y="703113"/>
            <a:ext cx="211563" cy="219013"/>
          </a:xfrm>
          <a:custGeom>
            <a:rect b="b" l="l" r="r" t="t"/>
            <a:pathLst>
              <a:path extrusionOk="0" h="93345" w="90169">
                <a:moveTo>
                  <a:pt x="90093" y="93002"/>
                </a:moveTo>
                <a:lnTo>
                  <a:pt x="0" y="93002"/>
                </a:lnTo>
                <a:lnTo>
                  <a:pt x="0" y="0"/>
                </a:lnTo>
                <a:lnTo>
                  <a:pt x="90093" y="0"/>
                </a:lnTo>
                <a:lnTo>
                  <a:pt x="90093" y="93002"/>
                </a:lnTo>
                <a:close/>
              </a:path>
            </a:pathLst>
          </a:custGeom>
          <a:noFill/>
          <a:ln cap="flat" cmpd="sng" w="15875">
            <a:solidFill>
              <a:srgbClr val="D0B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583564" y="465178"/>
            <a:ext cx="124908" cy="124908"/>
          </a:xfrm>
          <a:prstGeom prst="ellipse">
            <a:avLst/>
          </a:prstGeom>
          <a:noFill/>
          <a:ln cap="flat" cmpd="sng" w="15875">
            <a:solidFill>
              <a:srgbClr val="D0B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3"/>
          <p:cNvCxnSpPr/>
          <p:nvPr/>
        </p:nvCxnSpPr>
        <p:spPr>
          <a:xfrm>
            <a:off x="5058069" y="0"/>
            <a:ext cx="0" cy="1381580"/>
          </a:xfrm>
          <a:prstGeom prst="straightConnector1">
            <a:avLst/>
          </a:prstGeom>
          <a:noFill/>
          <a:ln cap="flat" cmpd="sng" w="15875">
            <a:solidFill>
              <a:srgbClr val="D0BB2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" name="Google Shape;30;p3"/>
          <p:cNvSpPr/>
          <p:nvPr/>
        </p:nvSpPr>
        <p:spPr>
          <a:xfrm rot="5400000">
            <a:off x="5006034" y="1338116"/>
            <a:ext cx="90170" cy="93345"/>
          </a:xfrm>
          <a:custGeom>
            <a:rect b="b" l="l" r="r" t="t"/>
            <a:pathLst>
              <a:path extrusionOk="0" h="93345" w="90169">
                <a:moveTo>
                  <a:pt x="90093" y="93002"/>
                </a:moveTo>
                <a:lnTo>
                  <a:pt x="0" y="93002"/>
                </a:lnTo>
                <a:lnTo>
                  <a:pt x="0" y="0"/>
                </a:lnTo>
                <a:lnTo>
                  <a:pt x="90093" y="0"/>
                </a:lnTo>
                <a:lnTo>
                  <a:pt x="90093" y="93002"/>
                </a:lnTo>
                <a:close/>
              </a:path>
            </a:pathLst>
          </a:custGeom>
          <a:solidFill>
            <a:srgbClr val="D0BB2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4660" y="5760720"/>
            <a:ext cx="533106" cy="65039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/>
          <p:nvPr/>
        </p:nvSpPr>
        <p:spPr>
          <a:xfrm rot="5400000">
            <a:off x="8690152" y="6329465"/>
            <a:ext cx="90170" cy="93345"/>
          </a:xfrm>
          <a:custGeom>
            <a:rect b="b" l="l" r="r" t="t"/>
            <a:pathLst>
              <a:path extrusionOk="0" h="93345" w="90169">
                <a:moveTo>
                  <a:pt x="90093" y="93002"/>
                </a:moveTo>
                <a:lnTo>
                  <a:pt x="0" y="93002"/>
                </a:lnTo>
                <a:lnTo>
                  <a:pt x="0" y="0"/>
                </a:lnTo>
                <a:lnTo>
                  <a:pt x="90093" y="0"/>
                </a:lnTo>
                <a:lnTo>
                  <a:pt x="90093" y="93002"/>
                </a:lnTo>
                <a:close/>
              </a:path>
            </a:pathLst>
          </a:custGeom>
          <a:solidFill>
            <a:srgbClr val="DA2B3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 rot="5400000">
            <a:off x="8389977" y="6329464"/>
            <a:ext cx="90170" cy="93345"/>
          </a:xfrm>
          <a:custGeom>
            <a:rect b="b" l="l" r="r" t="t"/>
            <a:pathLst>
              <a:path extrusionOk="0" h="93345" w="90169">
                <a:moveTo>
                  <a:pt x="90093" y="93002"/>
                </a:moveTo>
                <a:lnTo>
                  <a:pt x="0" y="93002"/>
                </a:lnTo>
                <a:lnTo>
                  <a:pt x="0" y="0"/>
                </a:lnTo>
                <a:lnTo>
                  <a:pt x="90093" y="0"/>
                </a:lnTo>
                <a:lnTo>
                  <a:pt x="90093" y="93002"/>
                </a:lnTo>
                <a:close/>
              </a:path>
            </a:pathLst>
          </a:custGeom>
          <a:solidFill>
            <a:srgbClr val="4A2F7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 rot="5400000">
            <a:off x="8089617" y="6331996"/>
            <a:ext cx="90170" cy="93345"/>
          </a:xfrm>
          <a:custGeom>
            <a:rect b="b" l="l" r="r" t="t"/>
            <a:pathLst>
              <a:path extrusionOk="0" h="93345" w="90169">
                <a:moveTo>
                  <a:pt x="90093" y="93002"/>
                </a:moveTo>
                <a:lnTo>
                  <a:pt x="0" y="93002"/>
                </a:lnTo>
                <a:lnTo>
                  <a:pt x="0" y="0"/>
                </a:lnTo>
                <a:lnTo>
                  <a:pt x="90093" y="0"/>
                </a:lnTo>
                <a:lnTo>
                  <a:pt x="90093" y="93002"/>
                </a:lnTo>
                <a:close/>
              </a:path>
            </a:pathLst>
          </a:custGeom>
          <a:solidFill>
            <a:srgbClr val="D0BB2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/>
        </p:nvSpPr>
        <p:spPr>
          <a:xfrm>
            <a:off x="914400" y="2448528"/>
            <a:ext cx="6614983" cy="15056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1730"/>
              </a:buClr>
              <a:buSzPts val="6000"/>
              <a:buFont typeface="Times"/>
              <a:buNone/>
            </a:pPr>
            <a:r>
              <a:rPr b="1" lang="en-US" sz="6000">
                <a:solidFill>
                  <a:srgbClr val="8D1730"/>
                </a:solidFill>
                <a:latin typeface="Times"/>
                <a:ea typeface="Times"/>
                <a:cs typeface="Times"/>
                <a:sym typeface="Times"/>
              </a:rPr>
              <a:t>Linux System Monitoring</a:t>
            </a:r>
            <a:endParaRPr/>
          </a:p>
        </p:txBody>
      </p:sp>
      <p:sp>
        <p:nvSpPr>
          <p:cNvPr id="55" name="Google Shape;55;p8"/>
          <p:cNvSpPr txBox="1"/>
          <p:nvPr/>
        </p:nvSpPr>
        <p:spPr>
          <a:xfrm>
            <a:off x="914389" y="4161477"/>
            <a:ext cx="4531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1730"/>
              </a:buClr>
              <a:buSzPts val="2400"/>
              <a:buFont typeface="Arial"/>
              <a:buNone/>
            </a:pPr>
            <a:r>
              <a:rPr lang="en-US" sz="2400"/>
              <a:t>Thomas Czyzyk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idx="1" type="body"/>
          </p:nvPr>
        </p:nvSpPr>
        <p:spPr>
          <a:xfrm>
            <a:off x="1867724" y="2364586"/>
            <a:ext cx="6359525" cy="3068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-Observe processes on the computer in real time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-Check for stability and stop system failure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-Helps pinpoint the problems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950988" y="642244"/>
            <a:ext cx="8193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1730"/>
              </a:buClr>
              <a:buSzPts val="4500"/>
              <a:buFont typeface="Times"/>
              <a:buNone/>
            </a:pPr>
            <a:r>
              <a:rPr lang="en-US"/>
              <a:t>What is System Monitoring and why do it?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952902" y="1638444"/>
            <a:ext cx="8191098" cy="513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1730"/>
              </a:buClr>
              <a:buSzPts val="4500"/>
              <a:buFont typeface="Times"/>
              <a:buNone/>
            </a:pPr>
            <a:r>
              <a:rPr lang="en-US"/>
              <a:t>How its implemented in Linux</a:t>
            </a:r>
            <a:endParaRPr/>
          </a:p>
        </p:txBody>
      </p:sp>
      <p:sp>
        <p:nvSpPr>
          <p:cNvPr id="67" name="Google Shape;67;p10"/>
          <p:cNvSpPr txBox="1"/>
          <p:nvPr>
            <p:ph idx="2" type="body"/>
          </p:nvPr>
        </p:nvSpPr>
        <p:spPr>
          <a:xfrm>
            <a:off x="1868688" y="2364586"/>
            <a:ext cx="6359525" cy="3068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01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1730"/>
              </a:buClr>
              <a:buSzPts val="2000"/>
              <a:buNone/>
            </a:pPr>
            <a:r>
              <a:rPr lang="en-US"/>
              <a:t>-top/uptime commands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1730"/>
              </a:buClr>
              <a:buSzPts val="2000"/>
              <a:buNone/>
            </a:pPr>
            <a:r>
              <a:t/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1730"/>
              </a:buClr>
              <a:buSzPts val="2000"/>
              <a:buNone/>
            </a:pPr>
            <a:r>
              <a:rPr lang="en-US"/>
              <a:t>-free command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1730"/>
              </a:buClr>
              <a:buSzPts val="2000"/>
              <a:buNone/>
            </a:pPr>
            <a:r>
              <a:t/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1730"/>
              </a:buClr>
              <a:buSzPts val="2000"/>
              <a:buNone/>
            </a:pPr>
            <a:r>
              <a:rPr lang="en-US"/>
              <a:t>-df command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1730"/>
              </a:buClr>
              <a:buSzPts val="2000"/>
              <a:buNone/>
            </a:pPr>
            <a:r>
              <a:t/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1730"/>
              </a:buClr>
              <a:buSzPts val="2000"/>
              <a:buNone/>
            </a:pPr>
            <a:r>
              <a:rPr lang="en-US"/>
              <a:t>-awk/sed commands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1730"/>
              </a:buClr>
              <a:buSzPts val="2000"/>
              <a:buNone/>
            </a:pPr>
            <a:r>
              <a:t/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1730"/>
              </a:buClr>
              <a:buSzPts val="2000"/>
              <a:buNone/>
            </a:pPr>
            <a:r>
              <a:rPr lang="en-US"/>
              <a:t>-Using these to create a script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idx="1" type="body"/>
          </p:nvPr>
        </p:nvSpPr>
        <p:spPr>
          <a:xfrm>
            <a:off x="952900" y="546320"/>
            <a:ext cx="8191200" cy="89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The Script</a:t>
            </a:r>
            <a:endParaRPr/>
          </a:p>
        </p:txBody>
      </p:sp>
      <p:pic>
        <p:nvPicPr>
          <p:cNvPr id="74" name="Google Shape;7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3038" y="1655825"/>
            <a:ext cx="4733826" cy="421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" type="body"/>
          </p:nvPr>
        </p:nvSpPr>
        <p:spPr>
          <a:xfrm>
            <a:off x="952900" y="439021"/>
            <a:ext cx="8191200" cy="1131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Output (idle)</a:t>
            </a:r>
            <a:endParaRPr/>
          </a:p>
        </p:txBody>
      </p:sp>
      <p:pic>
        <p:nvPicPr>
          <p:cNvPr id="81" name="Google Shape;8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0400" y="1813449"/>
            <a:ext cx="7518551" cy="4013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idx="1" type="body"/>
          </p:nvPr>
        </p:nvSpPr>
        <p:spPr>
          <a:xfrm>
            <a:off x="952900" y="468248"/>
            <a:ext cx="8191200" cy="16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Output (active CPU)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707" y="1882800"/>
            <a:ext cx="7861544" cy="37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908703" y="2448527"/>
            <a:ext cx="6615000" cy="150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itle Slide">
  <a:themeElements>
    <a:clrScheme name="Custom 1">
      <a:dk1>
        <a:srgbClr val="8D1730"/>
      </a:dk1>
      <a:lt1>
        <a:srgbClr val="FFFEFE"/>
      </a:lt1>
      <a:dk2>
        <a:srgbClr val="8D1730"/>
      </a:dk2>
      <a:lt2>
        <a:srgbClr val="FFFEFE"/>
      </a:lt2>
      <a:accent1>
        <a:srgbClr val="D92B3B"/>
      </a:accent1>
      <a:accent2>
        <a:srgbClr val="492F7B"/>
      </a:accent2>
      <a:accent3>
        <a:srgbClr val="CFBB23"/>
      </a:accent3>
      <a:accent4>
        <a:srgbClr val="565C5C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ody Slid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